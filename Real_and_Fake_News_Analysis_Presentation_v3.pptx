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1828800"/>
            <a:ext cx="10728655" cy="2743200"/>
          </a:xfrm>
          <a:prstGeom prst="rect">
            <a:avLst/>
          </a:prstGeom>
          <a:noFill/>
        </p:spPr>
        <p:txBody>
          <a:bodyPr wrap="square" lIns="0">
            <a:spAutoFit/>
          </a:bodyPr>
          <a:lstStyle/>
          <a:p>
            <a:pPr>
              <a:spcAft>
                <a:spcPts val="1400"/>
              </a:spcAft>
              <a:defRPr sz="1400" b="1">
                <a:solidFill>
                  <a:srgbClr val="38BDF8"/>
                </a:solidFill>
                <a:latin typeface="Segoe UI"/>
              </a:defRPr>
            </a:pPr>
            <a:r>
              <a:t>MACHINE LEARNING PROJECT PRESENTATION</a:t>
            </a:r>
          </a:p>
          <a:p>
            <a:pPr>
              <a:spcAft>
                <a:spcPts val="800"/>
              </a:spcAft>
              <a:defRPr sz="4400" b="1">
                <a:solidFill>
                  <a:srgbClr val="FFFFFF"/>
                </a:solidFill>
                <a:latin typeface="Segoe UI"/>
              </a:defRPr>
            </a:pPr>
            <a:r>
              <a:t>Real vs. Fake News Detection</a:t>
            </a:r>
          </a:p>
          <a:p>
            <a:pPr>
              <a:spcAft>
                <a:spcPts val="2800"/>
              </a:spcAft>
              <a:defRPr sz="1800">
                <a:solidFill>
                  <a:srgbClr val="94A3B8"/>
                </a:solidFill>
                <a:latin typeface="Segoe UI"/>
              </a:defRPr>
            </a:pPr>
            <a:r>
              <a:t>A Comparative Analysis of NLP Pipeline and Machine Learning Classifiers</a:t>
            </a:r>
          </a:p>
        </p:txBody>
      </p:sp>
      <p:sp>
        <p:nvSpPr>
          <p:cNvPr id="3" name="Rectangle 2"/>
          <p:cNvSpPr/>
          <p:nvPr/>
        </p:nvSpPr>
        <p:spPr>
          <a:xfrm>
            <a:off x="731520" y="4572000"/>
            <a:ext cx="3657600" cy="54864"/>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120640"/>
            <a:ext cx="10728655" cy="1097280"/>
          </a:xfrm>
          <a:prstGeom prst="rect">
            <a:avLst/>
          </a:prstGeom>
          <a:noFill/>
        </p:spPr>
        <p:txBody>
          <a:bodyPr wrap="square" lIns="0">
            <a:spAutoFit/>
          </a:bodyPr>
          <a:lstStyle/>
          <a:p>
            <a:pPr>
              <a:defRPr sz="1200">
                <a:solidFill>
                  <a:srgbClr val="94A3B8"/>
                </a:solidFill>
                <a:latin typeface="Segoe UI"/>
              </a:defRPr>
            </a:pPr>
            <a:r>
              <a:t>Dataset size: 44,689 articles  |  Feature Extraction: TF-IDF (5,000 features, Unigrams &amp; Bigrams)</a:t>
            </a:r>
            <a:br/>
            <a:r>
              <a:t>Primary Classifier: Logistic Regression &amp; Random Forest  |  Validation Split: 80/20 Stratified Split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a:spAutoFit/>
          </a:bodyPr>
          <a:lstStyle/>
          <a:p>
            <a:pPr>
              <a:defRPr sz="3600" b="1">
                <a:solidFill>
                  <a:srgbClr val="0F172A"/>
                </a:solidFill>
                <a:latin typeface="Segoe UI"/>
              </a:defRPr>
            </a:pPr>
            <a:r>
              <a:t>Project Context &amp; Objectives</a:t>
            </a:r>
          </a:p>
        </p:txBody>
      </p:sp>
      <p:sp>
        <p:nvSpPr>
          <p:cNvPr id="3" name="Rectangle 2"/>
          <p:cNvSpPr/>
          <p:nvPr/>
        </p:nvSpPr>
        <p:spPr>
          <a:xfrm>
            <a:off x="731520" y="1280160"/>
            <a:ext cx="2011680"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5120640" cy="4389120"/>
          </a:xfrm>
          <a:prstGeom prst="rect">
            <a:avLst/>
          </a:prstGeom>
          <a:noFill/>
        </p:spPr>
        <p:txBody>
          <a:bodyPr wrap="square" lIns="0" tIns="0">
            <a:spAutoFit/>
          </a:bodyPr>
          <a:lstStyle/>
          <a:p>
            <a:pPr>
              <a:spcAft>
                <a:spcPts val="1200"/>
              </a:spcAft>
              <a:defRPr sz="1600" b="1">
                <a:solidFill>
                  <a:srgbClr val="0284C7"/>
                </a:solidFill>
                <a:latin typeface="Segoe UI"/>
              </a:defRPr>
            </a:pPr>
            <a:r>
              <a:t>THE PROBLEM OF MISINFORMATION</a:t>
            </a:r>
          </a:p>
          <a:p>
            <a:pPr>
              <a:spcAft>
                <a:spcPts val="1200"/>
              </a:spcAft>
              <a:defRPr sz="1500">
                <a:solidFill>
                  <a:srgbClr val="334155"/>
                </a:solidFill>
                <a:latin typeface="Segoe UI"/>
              </a:defRPr>
            </a:pPr>
            <a:r>
              <a:t>The rapid expansion of social media and online journalism has dramatically accelerated the spread of fake news. Misinformation can manipulate public opinion, influence democratic processes, and foster social division. </a:t>
            </a:r>
            <a:br/>
            <a:br/>
            <a:r>
              <a:t>Automating the detection of deceptive content is a critical task in natural language processing (NLP). Traditional machine learning classifiers offer transparent, efficient, and highly accurate solutions when combined with robust text preprocessing and TF-IDF feature representations.</a:t>
            </a:r>
          </a:p>
        </p:txBody>
      </p:sp>
      <p:sp>
        <p:nvSpPr>
          <p:cNvPr id="5" name="Rounded Rectangle 4"/>
          <p:cNvSpPr/>
          <p:nvPr/>
        </p:nvSpPr>
        <p:spPr>
          <a:xfrm>
            <a:off x="6217920" y="1645920"/>
            <a:ext cx="521208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920240"/>
            <a:ext cx="4663440" cy="3840480"/>
          </a:xfrm>
          <a:prstGeom prst="rect">
            <a:avLst/>
          </a:prstGeom>
          <a:noFill/>
        </p:spPr>
        <p:txBody>
          <a:bodyPr wrap="square" lIns="0" tIns="0">
            <a:spAutoFit/>
          </a:bodyPr>
          <a:lstStyle/>
          <a:p>
            <a:pPr>
              <a:spcAft>
                <a:spcPts val="1200"/>
              </a:spcAft>
              <a:defRPr sz="1600" b="1">
                <a:solidFill>
                  <a:srgbClr val="0F172A"/>
                </a:solidFill>
                <a:latin typeface="Segoe UI"/>
              </a:defRPr>
            </a:pPr>
            <a:r>
              <a:t>KEY PROJECT GOALS</a:t>
            </a:r>
          </a:p>
          <a:p>
            <a:pPr>
              <a:spcAft>
                <a:spcPts val="800"/>
              </a:spcAft>
              <a:defRPr sz="1300" b="1">
                <a:solidFill>
                  <a:srgbClr val="0284C7"/>
                </a:solidFill>
                <a:latin typeface="Segoe UI"/>
              </a:defRPr>
            </a:pPr>
            <a:r>
              <a:t>•  End-to-End NLP Pipeline: </a:t>
            </a:r>
            <a:r>
              <a:rPr sz="1300" b="0">
                <a:solidFill>
                  <a:srgbClr val="334155"/>
                </a:solidFill>
                <a:latin typeface="Segoe UI"/>
              </a:rPr>
              <a:t>Develop standard text normalization, cleaning, and Porter stemming to reduce text noise.</a:t>
            </a:r>
          </a:p>
          <a:p>
            <a:pPr>
              <a:spcAft>
                <a:spcPts val="800"/>
              </a:spcAft>
              <a:defRPr sz="1300" b="1">
                <a:solidFill>
                  <a:srgbClr val="0284C7"/>
                </a:solidFill>
                <a:latin typeface="Segoe UI"/>
              </a:defRPr>
            </a:pPr>
            <a:r>
              <a:t>•  TF-IDF Representation: </a:t>
            </a:r>
            <a:r>
              <a:rPr sz="1300" b="0">
                <a:solidFill>
                  <a:srgbClr val="334155"/>
                </a:solidFill>
                <a:latin typeface="Segoe UI"/>
              </a:rPr>
              <a:t>Convert unstructured text into a structured 5,000-dimensional TF-IDF vector space with bigrams.</a:t>
            </a:r>
          </a:p>
          <a:p>
            <a:pPr>
              <a:spcAft>
                <a:spcPts val="800"/>
              </a:spcAft>
              <a:defRPr sz="1300" b="1">
                <a:solidFill>
                  <a:srgbClr val="0284C7"/>
                </a:solidFill>
                <a:latin typeface="Segoe UI"/>
              </a:defRPr>
            </a:pPr>
            <a:r>
              <a:t>•  Model Comparison: </a:t>
            </a:r>
            <a:r>
              <a:rPr sz="1300" b="0">
                <a:solidFill>
                  <a:srgbClr val="334155"/>
                </a:solidFill>
                <a:latin typeface="Segoe UI"/>
              </a:rPr>
              <a:t>Evaluate six distinct machine learning classifiers: Logistic Regression, Naive Bayes, SVM, Passive Aggressive, Decision Tree, and Random Forest.</a:t>
            </a:r>
          </a:p>
          <a:p>
            <a:pPr>
              <a:spcAft>
                <a:spcPts val="800"/>
              </a:spcAft>
              <a:defRPr sz="1300" b="1">
                <a:solidFill>
                  <a:srgbClr val="0284C7"/>
                </a:solidFill>
                <a:latin typeface="Segoe UI"/>
              </a:defRPr>
            </a:pPr>
            <a:r>
              <a:t>•  Critical Error Analysis: </a:t>
            </a:r>
            <a:r>
              <a:rPr sz="1300" b="0">
                <a:solidFill>
                  <a:srgbClr val="334155"/>
                </a:solidFill>
                <a:latin typeface="Segoe UI"/>
              </a:rPr>
              <a:t>Analyze confusion matrices and ROC curves to identify classification bottlenecks and dataset biases.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a:spAutoFit/>
          </a:bodyPr>
          <a:lstStyle/>
          <a:p>
            <a:pPr>
              <a:defRPr sz="3600" b="1">
                <a:solidFill>
                  <a:srgbClr val="0F172A"/>
                </a:solidFill>
                <a:latin typeface="Segoe UI"/>
              </a:defRPr>
            </a:pPr>
            <a:r>
              <a:t>Dataset Statistics &amp; Balance</a:t>
            </a:r>
          </a:p>
        </p:txBody>
      </p:sp>
      <p:sp>
        <p:nvSpPr>
          <p:cNvPr id="3" name="Rectangle 2"/>
          <p:cNvSpPr/>
          <p:nvPr/>
        </p:nvSpPr>
        <p:spPr>
          <a:xfrm>
            <a:off x="731520" y="1280160"/>
            <a:ext cx="2011680"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5120640" cy="4389120"/>
          </a:xfrm>
          <a:prstGeom prst="rect">
            <a:avLst/>
          </a:prstGeom>
          <a:noFill/>
        </p:spPr>
        <p:txBody>
          <a:bodyPr wrap="square" lIns="0" tIns="0">
            <a:spAutoFit/>
          </a:bodyPr>
          <a:lstStyle/>
          <a:p>
            <a:pPr>
              <a:spcAft>
                <a:spcPts val="1400"/>
              </a:spcAft>
              <a:defRPr sz="1600" b="1">
                <a:solidFill>
                  <a:srgbClr val="0284C7"/>
                </a:solidFill>
                <a:latin typeface="Segoe UI"/>
              </a:defRPr>
            </a:pPr>
            <a:r>
              <a:t>DATASET COMPOSITION</a:t>
            </a:r>
          </a:p>
          <a:p>
            <a:pPr>
              <a:spcAft>
                <a:spcPts val="1000"/>
              </a:spcAft>
              <a:defRPr sz="1350" b="1">
                <a:solidFill>
                  <a:srgbClr val="0F172A"/>
                </a:solidFill>
                <a:latin typeface="Segoe UI"/>
              </a:defRPr>
            </a:pPr>
            <a:r>
              <a:t>•  Source Files: </a:t>
            </a:r>
            <a:r>
              <a:rPr sz="1350" b="0">
                <a:solidFill>
                  <a:srgbClr val="334155"/>
                </a:solidFill>
                <a:latin typeface="Segoe UI"/>
              </a:rPr>
              <a:t>fake.csv (23,481 records) and true.csv (21,417 records)</a:t>
            </a:r>
          </a:p>
          <a:p>
            <a:pPr>
              <a:spcAft>
                <a:spcPts val="1000"/>
              </a:spcAft>
              <a:defRPr sz="1350" b="1">
                <a:solidFill>
                  <a:srgbClr val="0F172A"/>
                </a:solidFill>
                <a:latin typeface="Segoe UI"/>
              </a:defRPr>
            </a:pPr>
            <a:r>
              <a:t>•  Original Raw Total: </a:t>
            </a:r>
            <a:r>
              <a:rPr sz="1350" b="0">
                <a:solidFill>
                  <a:srgbClr val="334155"/>
                </a:solidFill>
                <a:latin typeface="Segoe UI"/>
              </a:rPr>
              <a:t>44,898 records</a:t>
            </a:r>
          </a:p>
          <a:p>
            <a:pPr>
              <a:spcAft>
                <a:spcPts val="1000"/>
              </a:spcAft>
              <a:defRPr sz="1350" b="1">
                <a:solidFill>
                  <a:srgbClr val="0F172A"/>
                </a:solidFill>
                <a:latin typeface="Segoe UI"/>
              </a:defRPr>
            </a:pPr>
            <a:r>
              <a:t>•  Duplicates Removed: </a:t>
            </a:r>
            <a:r>
              <a:rPr sz="1350" b="0">
                <a:solidFill>
                  <a:srgbClr val="334155"/>
                </a:solidFill>
                <a:latin typeface="Segoe UI"/>
              </a:rPr>
              <a:t>209 duplicate records identified and dropped</a:t>
            </a:r>
          </a:p>
          <a:p>
            <a:pPr>
              <a:spcAft>
                <a:spcPts val="1000"/>
              </a:spcAft>
              <a:defRPr sz="1350" b="1">
                <a:solidFill>
                  <a:srgbClr val="0F172A"/>
                </a:solidFill>
                <a:latin typeface="Segoe UI"/>
              </a:defRPr>
            </a:pPr>
            <a:r>
              <a:t>•  Cleaned Dataset: </a:t>
            </a:r>
            <a:r>
              <a:rPr sz="1350" b="0">
                <a:solidFill>
                  <a:srgbClr val="334155"/>
                </a:solidFill>
                <a:latin typeface="Segoe UI"/>
              </a:rPr>
              <a:t>44,689 unique records</a:t>
            </a:r>
          </a:p>
          <a:p>
            <a:pPr>
              <a:spcAft>
                <a:spcPts val="1000"/>
              </a:spcAft>
              <a:defRPr sz="1350" b="1">
                <a:solidFill>
                  <a:srgbClr val="0F172A"/>
                </a:solidFill>
                <a:latin typeface="Segoe UI"/>
              </a:defRPr>
            </a:pPr>
            <a:r>
              <a:t>•  Class Balance: </a:t>
            </a:r>
            <a:r>
              <a:rPr sz="1350" b="0">
                <a:solidFill>
                  <a:srgbClr val="334155"/>
                </a:solidFill>
                <a:latin typeface="Segoe UI"/>
              </a:rPr>
              <a:t>Fake News: 23,478 (52.5%)  |  Real News: 21,211 (47.5%)</a:t>
            </a:r>
          </a:p>
          <a:p>
            <a:pPr>
              <a:spcAft>
                <a:spcPts val="1000"/>
              </a:spcAft>
              <a:defRPr sz="1350" b="1">
                <a:solidFill>
                  <a:srgbClr val="0F172A"/>
                </a:solidFill>
                <a:latin typeface="Segoe UI"/>
              </a:defRPr>
            </a:pPr>
            <a:r>
              <a:t>•  Dataset Attributes: </a:t>
            </a:r>
            <a:r>
              <a:rPr sz="1350" b="0">
                <a:solidFill>
                  <a:srgbClr val="334155"/>
                </a:solidFill>
                <a:latin typeface="Segoe UI"/>
              </a:rPr>
              <a:t>title (article headline), text (body content), subject (article category), date (publication date)</a:t>
            </a:r>
          </a:p>
        </p:txBody>
      </p:sp>
      <p:pic>
        <p:nvPicPr>
          <p:cNvPr id="5" name="Picture 4" descr="eda_class_distribution.png"/>
          <p:cNvPicPr>
            <a:picLocks noChangeAspect="1"/>
          </p:cNvPicPr>
          <p:nvPr/>
        </p:nvPicPr>
        <p:blipFill>
          <a:blip r:embed="rId2"/>
          <a:stretch>
            <a:fillRect/>
          </a:stretch>
        </p:blipFill>
        <p:spPr>
          <a:xfrm>
            <a:off x="6217920" y="1645920"/>
            <a:ext cx="5212080" cy="43891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a:spAutoFit/>
          </a:bodyPr>
          <a:lstStyle/>
          <a:p>
            <a:pPr>
              <a:defRPr sz="3600" b="1">
                <a:solidFill>
                  <a:srgbClr val="0F172A"/>
                </a:solidFill>
                <a:latin typeface="Segoe UI"/>
              </a:defRPr>
            </a:pPr>
            <a:r>
              <a:t>Exploratory Data Analysis: Subject Distribution</a:t>
            </a:r>
          </a:p>
        </p:txBody>
      </p:sp>
      <p:sp>
        <p:nvSpPr>
          <p:cNvPr id="3" name="Rectangle 2"/>
          <p:cNvSpPr/>
          <p:nvPr/>
        </p:nvSpPr>
        <p:spPr>
          <a:xfrm>
            <a:off x="731520" y="1280160"/>
            <a:ext cx="2011680"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5120640" cy="4389120"/>
          </a:xfrm>
          <a:prstGeom prst="rect">
            <a:avLst/>
          </a:prstGeom>
          <a:noFill/>
        </p:spPr>
        <p:txBody>
          <a:bodyPr wrap="square" lIns="0" tIns="0">
            <a:spAutoFit/>
          </a:bodyPr>
          <a:lstStyle/>
          <a:p>
            <a:pPr>
              <a:spcAft>
                <a:spcPts val="1200"/>
              </a:spcAft>
              <a:defRPr sz="1600" b="1">
                <a:solidFill>
                  <a:srgbClr val="0284C7"/>
                </a:solidFill>
                <a:latin typeface="Segoe UI"/>
              </a:defRPr>
            </a:pPr>
            <a:r>
              <a:t>SUBJECT METADATA AS A STRONG PREDICTOR</a:t>
            </a:r>
          </a:p>
          <a:p>
            <a:pPr>
              <a:spcAft>
                <a:spcPts val="1000"/>
              </a:spcAft>
              <a:defRPr sz="1400">
                <a:solidFill>
                  <a:srgbClr val="334155"/>
                </a:solidFill>
                <a:latin typeface="Segoe UI"/>
              </a:defRPr>
            </a:pPr>
            <a:r>
              <a:t>Cross-tabulation of labels and subjects reveals a complete structural split in the dataset:</a:t>
            </a:r>
            <a:br/>
            <a:br/>
            <a:r>
              <a:t>•  Fake News subjects: News (9,050), politics (6,841), left-news (4,459), Government News (1,570), US_News (783), and Middle-east (778).</a:t>
            </a:r>
            <a:br/>
            <a:br/>
            <a:r>
              <a:t>•  Real News subjects: politicsNews (11,272) and worldnews (10,145).</a:t>
            </a:r>
            <a:br/>
            <a:br/>
            <a:r>
              <a:t>•  Key Insight: There is zero subject category overlap between classes. Using 'subject' directly as a feature in a classifier would result in trivial, 100% accurate classification, but would fail to generalize to external articles. Thus, we build the classifier purely on text content.</a:t>
            </a:r>
          </a:p>
        </p:txBody>
      </p:sp>
      <p:pic>
        <p:nvPicPr>
          <p:cNvPr id="5" name="Picture 4" descr="eda_subject_by_label.png"/>
          <p:cNvPicPr>
            <a:picLocks noChangeAspect="1"/>
          </p:cNvPicPr>
          <p:nvPr/>
        </p:nvPicPr>
        <p:blipFill>
          <a:blip r:embed="rId2"/>
          <a:stretch>
            <a:fillRect/>
          </a:stretch>
        </p:blipFill>
        <p:spPr>
          <a:xfrm>
            <a:off x="6217920" y="1645920"/>
            <a:ext cx="5212080" cy="43891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a:spAutoFit/>
          </a:bodyPr>
          <a:lstStyle/>
          <a:p>
            <a:pPr>
              <a:defRPr sz="3600" b="1">
                <a:solidFill>
                  <a:srgbClr val="0F172A"/>
                </a:solidFill>
                <a:latin typeface="Segoe UI"/>
              </a:defRPr>
            </a:pPr>
            <a:r>
              <a:t>Exploratory Data Analysis: Article Lengths</a:t>
            </a:r>
          </a:p>
        </p:txBody>
      </p:sp>
      <p:sp>
        <p:nvSpPr>
          <p:cNvPr id="3" name="Rectangle 2"/>
          <p:cNvSpPr/>
          <p:nvPr/>
        </p:nvSpPr>
        <p:spPr>
          <a:xfrm>
            <a:off x="731520" y="1280160"/>
            <a:ext cx="2011680"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5120640" cy="4389120"/>
          </a:xfrm>
          <a:prstGeom prst="rect">
            <a:avLst/>
          </a:prstGeom>
          <a:noFill/>
        </p:spPr>
        <p:txBody>
          <a:bodyPr wrap="square" lIns="0" tIns="0">
            <a:spAutoFit/>
          </a:bodyPr>
          <a:lstStyle/>
          <a:p>
            <a:pPr>
              <a:spcAft>
                <a:spcPts val="1200"/>
              </a:spcAft>
              <a:defRPr sz="1600" b="1">
                <a:solidFill>
                  <a:srgbClr val="0284C7"/>
                </a:solidFill>
                <a:latin typeface="Segoe UI"/>
              </a:defRPr>
            </a:pPr>
            <a:r>
              <a:t>TEXT LENGTH ANALYTICS</a:t>
            </a:r>
          </a:p>
          <a:p>
            <a:pPr>
              <a:spcAft>
                <a:spcPts val="1000"/>
              </a:spcAft>
              <a:defRPr sz="1400">
                <a:solidFill>
                  <a:srgbClr val="334155"/>
                </a:solidFill>
                <a:latin typeface="Segoe UI"/>
              </a:defRPr>
            </a:pPr>
            <a:r>
              <a:t>An analysis of the word count across the entire corpus reveals:</a:t>
            </a:r>
            <a:br/>
            <a:br/>
            <a:r>
              <a:t>•  Overall word count: Mean of 405.28 words and standard deviation of 351.27 (Max: 8,135 words, Min: 0 words).</a:t>
            </a:r>
            <a:br/>
            <a:br/>
            <a:r>
              <a:t>•  Real News word count: Mean = 385.64 words, Median = 359 words.</a:t>
            </a:r>
            <a:br/>
            <a:br/>
            <a:r>
              <a:t>•  Fake News word count: Mean = 423.20 words, Median = 363 words.</a:t>
            </a:r>
            <a:br/>
            <a:br/>
            <a:r>
              <a:t>•  Key Insight: Fake articles in this dataset tend to be slightly longer on average and exhibit wider variation (longer tail) than real news articles. However, the medians are very close (359 vs 363), suggesting the overall distributions are highly overlapping.</a:t>
            </a:r>
          </a:p>
        </p:txBody>
      </p:sp>
      <p:pic>
        <p:nvPicPr>
          <p:cNvPr id="5" name="Picture 4" descr="eda_word_count_boxplot.png"/>
          <p:cNvPicPr>
            <a:picLocks noChangeAspect="1"/>
          </p:cNvPicPr>
          <p:nvPr/>
        </p:nvPicPr>
        <p:blipFill>
          <a:blip r:embed="rId2"/>
          <a:stretch>
            <a:fillRect/>
          </a:stretch>
        </p:blipFill>
        <p:spPr>
          <a:xfrm>
            <a:off x="6217920" y="1645920"/>
            <a:ext cx="5212080" cy="43891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a:spAutoFit/>
          </a:bodyPr>
          <a:lstStyle/>
          <a:p>
            <a:pPr>
              <a:defRPr sz="3600" b="1">
                <a:solidFill>
                  <a:srgbClr val="0F172A"/>
                </a:solidFill>
                <a:latin typeface="Segoe UI"/>
              </a:defRPr>
            </a:pPr>
            <a:r>
              <a:t>Text Preprocessing Pipeline</a:t>
            </a:r>
          </a:p>
        </p:txBody>
      </p:sp>
      <p:sp>
        <p:nvSpPr>
          <p:cNvPr id="3" name="Rectangle 2"/>
          <p:cNvSpPr/>
          <p:nvPr/>
        </p:nvSpPr>
        <p:spPr>
          <a:xfrm>
            <a:off x="731520" y="1280160"/>
            <a:ext cx="2011680"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1645920"/>
            <a:ext cx="33832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spcAft>
                <a:spcPts val="600"/>
              </a:spcAft>
              <a:defRPr sz="1400" b="1">
                <a:solidFill>
                  <a:srgbClr val="0284C7"/>
                </a:solidFill>
                <a:latin typeface="Segoe UI"/>
              </a:defRPr>
            </a:pPr>
            <a:r>
              <a:t>1. Content Combination</a:t>
            </a:r>
          </a:p>
          <a:p>
            <a:pPr>
              <a:defRPr sz="1150">
                <a:solidFill>
                  <a:srgbClr val="334155"/>
                </a:solidFill>
                <a:latin typeface="Segoe UI"/>
              </a:defRPr>
            </a:pPr>
            <a:r>
              <a:t>Concatenated the Title and Text fields into a single 'content' column to capture textual patterns from both the headline and the body together.</a:t>
            </a:r>
          </a:p>
        </p:txBody>
      </p:sp>
      <p:sp>
        <p:nvSpPr>
          <p:cNvPr id="5" name="Rounded Rectangle 4"/>
          <p:cNvSpPr/>
          <p:nvPr/>
        </p:nvSpPr>
        <p:spPr>
          <a:xfrm>
            <a:off x="4389120" y="1645920"/>
            <a:ext cx="33832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spcAft>
                <a:spcPts val="600"/>
              </a:spcAft>
              <a:defRPr sz="1400" b="1">
                <a:solidFill>
                  <a:srgbClr val="0284C7"/>
                </a:solidFill>
                <a:latin typeface="Segoe UI"/>
              </a:defRPr>
            </a:pPr>
            <a:r>
              <a:t>2. Lowercasing</a:t>
            </a:r>
          </a:p>
          <a:p>
            <a:pPr>
              <a:defRPr sz="1150">
                <a:solidFill>
                  <a:srgbClr val="334155"/>
                </a:solidFill>
                <a:latin typeface="Segoe UI"/>
              </a:defRPr>
            </a:pPr>
            <a:r>
              <a:t>Converted all character sequences to lowercase. This normalizes the text and ensures that words like 'Trump' and 'trump' map to the same token.</a:t>
            </a:r>
          </a:p>
        </p:txBody>
      </p:sp>
      <p:sp>
        <p:nvSpPr>
          <p:cNvPr id="6" name="Rounded Rectangle 5"/>
          <p:cNvSpPr/>
          <p:nvPr/>
        </p:nvSpPr>
        <p:spPr>
          <a:xfrm>
            <a:off x="8138160" y="1645920"/>
            <a:ext cx="33832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spcAft>
                <a:spcPts val="600"/>
              </a:spcAft>
              <a:defRPr sz="1400" b="1">
                <a:solidFill>
                  <a:srgbClr val="0284C7"/>
                </a:solidFill>
                <a:latin typeface="Segoe UI"/>
              </a:defRPr>
            </a:pPr>
            <a:r>
              <a:t>3. URL &amp; HTML Removal</a:t>
            </a:r>
          </a:p>
          <a:p>
            <a:pPr>
              <a:defRPr sz="1150">
                <a:solidFill>
                  <a:srgbClr val="334155"/>
                </a:solidFill>
                <a:latin typeface="Segoe UI"/>
              </a:defRPr>
            </a:pPr>
            <a:r>
              <a:t>Applied regular expressions to strip out hyperlinks ('http\S+|www\S+') and HTML tags ('&lt;.*?&gt;'). These elements contain formatting noise.</a:t>
            </a:r>
          </a:p>
        </p:txBody>
      </p:sp>
      <p:sp>
        <p:nvSpPr>
          <p:cNvPr id="7" name="Rounded Rectangle 6"/>
          <p:cNvSpPr/>
          <p:nvPr/>
        </p:nvSpPr>
        <p:spPr>
          <a:xfrm>
            <a:off x="640080" y="4023360"/>
            <a:ext cx="33832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spcAft>
                <a:spcPts val="600"/>
              </a:spcAft>
              <a:defRPr sz="1400" b="1">
                <a:solidFill>
                  <a:srgbClr val="0284C7"/>
                </a:solidFill>
                <a:latin typeface="Segoe UI"/>
              </a:defRPr>
            </a:pPr>
            <a:r>
              <a:t>4. Punctuation Stripping</a:t>
            </a:r>
          </a:p>
          <a:p>
            <a:pPr>
              <a:defRPr sz="1150">
                <a:solidFill>
                  <a:srgbClr val="334155"/>
                </a:solidFill>
                <a:latin typeface="Segoe UI"/>
              </a:defRPr>
            </a:pPr>
            <a:r>
              <a:t>Removed all punctuation marks using python's 'string.punctuation' translation table. This normalizes token count representation.</a:t>
            </a:r>
          </a:p>
        </p:txBody>
      </p:sp>
      <p:sp>
        <p:nvSpPr>
          <p:cNvPr id="8" name="Rounded Rectangle 7"/>
          <p:cNvSpPr/>
          <p:nvPr/>
        </p:nvSpPr>
        <p:spPr>
          <a:xfrm>
            <a:off x="4389120" y="4023360"/>
            <a:ext cx="33832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spcAft>
                <a:spcPts val="600"/>
              </a:spcAft>
              <a:defRPr sz="1400" b="1">
                <a:solidFill>
                  <a:srgbClr val="0284C7"/>
                </a:solidFill>
                <a:latin typeface="Segoe UI"/>
              </a:defRPr>
            </a:pPr>
            <a:r>
              <a:t>5. Selective Stopwords</a:t>
            </a:r>
          </a:p>
          <a:p>
            <a:pPr>
              <a:defRPr sz="1150">
                <a:solidFill>
                  <a:srgbClr val="334155"/>
                </a:solidFill>
                <a:latin typeface="Segoe UI"/>
              </a:defRPr>
            </a:pPr>
            <a:r>
              <a:t>Removed standard English stopwords. Critically, key negation terms (e.g. 'not', 'no', 'nor') were retained to preserve semantic logic context.</a:t>
            </a:r>
          </a:p>
        </p:txBody>
      </p:sp>
      <p:sp>
        <p:nvSpPr>
          <p:cNvPr id="9" name="Rounded Rectangle 8"/>
          <p:cNvSpPr/>
          <p:nvPr/>
        </p:nvSpPr>
        <p:spPr>
          <a:xfrm>
            <a:off x="8138160" y="4023360"/>
            <a:ext cx="33832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spcAft>
                <a:spcPts val="600"/>
              </a:spcAft>
              <a:defRPr sz="1400" b="1">
                <a:solidFill>
                  <a:srgbClr val="0284C7"/>
                </a:solidFill>
                <a:latin typeface="Segoe UI"/>
              </a:defRPr>
            </a:pPr>
            <a:r>
              <a:t>6. Porter Stemming</a:t>
            </a:r>
          </a:p>
          <a:p>
            <a:pPr>
              <a:defRPr sz="1150">
                <a:solidFill>
                  <a:srgbClr val="334155"/>
                </a:solidFill>
                <a:latin typeface="Segoe UI"/>
              </a:defRPr>
            </a:pPr>
            <a:r>
              <a:t>Applied the Porter Stemmer to reduce words to their base linguistic forms (e.g., 'playing/plays' -&gt; 'play'), compressing final vector dimensionality.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a:spAutoFit/>
          </a:bodyPr>
          <a:lstStyle/>
          <a:p>
            <a:pPr>
              <a:defRPr sz="3600" b="1">
                <a:solidFill>
                  <a:srgbClr val="0F172A"/>
                </a:solidFill>
                <a:latin typeface="Segoe UI"/>
              </a:defRPr>
            </a:pPr>
            <a:r>
              <a:t>Feature Representation &amp; Splitting</a:t>
            </a:r>
          </a:p>
        </p:txBody>
      </p:sp>
      <p:sp>
        <p:nvSpPr>
          <p:cNvPr id="3" name="Rectangle 2"/>
          <p:cNvSpPr/>
          <p:nvPr/>
        </p:nvSpPr>
        <p:spPr>
          <a:xfrm>
            <a:off x="731520" y="1280160"/>
            <a:ext cx="2011680"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5120640" cy="4389120"/>
          </a:xfrm>
          <a:prstGeom prst="rect">
            <a:avLst/>
          </a:prstGeom>
          <a:noFill/>
        </p:spPr>
        <p:txBody>
          <a:bodyPr wrap="square" lIns="0" tIns="0">
            <a:spAutoFit/>
          </a:bodyPr>
          <a:lstStyle/>
          <a:p>
            <a:pPr>
              <a:spcAft>
                <a:spcPts val="1200"/>
              </a:spcAft>
              <a:defRPr sz="1600" b="1">
                <a:solidFill>
                  <a:srgbClr val="0284C7"/>
                </a:solidFill>
                <a:latin typeface="Segoe UI"/>
              </a:defRPr>
            </a:pPr>
            <a:r>
              <a:t>TF-IDF VS. BAG-OF-WORDS</a:t>
            </a:r>
          </a:p>
          <a:p>
            <a:pPr>
              <a:spcAft>
                <a:spcPts val="1200"/>
              </a:spcAft>
              <a:defRPr sz="1500">
                <a:solidFill>
                  <a:srgbClr val="334155"/>
                </a:solidFill>
                <a:latin typeface="Segoe UI"/>
              </a:defRPr>
            </a:pPr>
            <a:r>
              <a:t>A simple Bag-of-Words (BoW) approach only counts raw word occurrences, meaning common terms like 'said' or 'people' dominate the feature representations even if they carry no discriminative power. </a:t>
            </a:r>
            <a:br/>
            <a:br/>
            <a:r>
              <a:t>TF-IDF (Term Frequency-Inverse Document Frequency) addresses this by scaling token frequencies relative to how often they occur across the entire corpus. This scales down very common terms while emphasizing rare, high-signal terms that are heavily concentrated in specific documents. This provides a vastly superior input representation for traditional machine learning classifiers.</a:t>
            </a:r>
          </a:p>
        </p:txBody>
      </p:sp>
      <p:sp>
        <p:nvSpPr>
          <p:cNvPr id="5" name="Rounded Rectangle 4"/>
          <p:cNvSpPr/>
          <p:nvPr/>
        </p:nvSpPr>
        <p:spPr>
          <a:xfrm>
            <a:off x="6217920" y="1645920"/>
            <a:ext cx="521208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920240"/>
            <a:ext cx="4663440" cy="3840480"/>
          </a:xfrm>
          <a:prstGeom prst="rect">
            <a:avLst/>
          </a:prstGeom>
          <a:noFill/>
        </p:spPr>
        <p:txBody>
          <a:bodyPr wrap="square" lIns="0" tIns="0">
            <a:spAutoFit/>
          </a:bodyPr>
          <a:lstStyle/>
          <a:p>
            <a:pPr>
              <a:spcAft>
                <a:spcPts val="1200"/>
              </a:spcAft>
              <a:defRPr sz="1600" b="1">
                <a:solidFill>
                  <a:srgbClr val="0F172A"/>
                </a:solidFill>
                <a:latin typeface="Segoe UI"/>
              </a:defRPr>
            </a:pPr>
            <a:r>
              <a:t>VECTORIZER &amp; SPLIT CONFIGURATION</a:t>
            </a:r>
          </a:p>
          <a:p>
            <a:pPr>
              <a:spcAft>
                <a:spcPts val="800"/>
              </a:spcAft>
              <a:defRPr sz="1250" b="1">
                <a:solidFill>
                  <a:srgbClr val="0284C7"/>
                </a:solidFill>
                <a:latin typeface="Segoe UI"/>
              </a:defRPr>
            </a:pPr>
            <a:r>
              <a:t>•  Maximum Features: </a:t>
            </a:r>
            <a:r>
              <a:rPr sz="1250" b="0">
                <a:solidFill>
                  <a:srgbClr val="334155"/>
                </a:solidFill>
                <a:latin typeface="Segoe UI"/>
              </a:rPr>
              <a:t>Restricted vocabulary size to the top 5,000 terms based on term frequency across the corpus to prevent extreme feature sparsity.</a:t>
            </a:r>
          </a:p>
          <a:p>
            <a:pPr>
              <a:spcAft>
                <a:spcPts val="800"/>
              </a:spcAft>
              <a:defRPr sz="1250" b="1">
                <a:solidFill>
                  <a:srgbClr val="0284C7"/>
                </a:solidFill>
                <a:latin typeface="Segoe UI"/>
              </a:defRPr>
            </a:pPr>
            <a:r>
              <a:t>•  Minimum Document Frequency (min_df = 2): </a:t>
            </a:r>
            <a:r>
              <a:rPr sz="1250" b="0">
                <a:solidFill>
                  <a:srgbClr val="334155"/>
                </a:solidFill>
                <a:latin typeface="Segoe UI"/>
              </a:rPr>
              <a:t>Removed rare tokens that appear in fewer than 2 articles, eliminating spelling mistakes and isolated noise.</a:t>
            </a:r>
          </a:p>
          <a:p>
            <a:pPr>
              <a:spcAft>
                <a:spcPts val="800"/>
              </a:spcAft>
              <a:defRPr sz="1250" b="1">
                <a:solidFill>
                  <a:srgbClr val="0284C7"/>
                </a:solidFill>
                <a:latin typeface="Segoe UI"/>
              </a:defRPr>
            </a:pPr>
            <a:r>
              <a:t>•  N-gram Range = (1, 2): </a:t>
            </a:r>
            <a:r>
              <a:rPr sz="1250" b="0">
                <a:solidFill>
                  <a:srgbClr val="334155"/>
                </a:solidFill>
                <a:latin typeface="Segoe UI"/>
              </a:rPr>
              <a:t>Extracted both single words (unigrams) and word pairs (bigrams). This preserves critical local context like 'white house' or 'donald trump'.</a:t>
            </a:r>
          </a:p>
          <a:p>
            <a:pPr>
              <a:spcAft>
                <a:spcPts val="800"/>
              </a:spcAft>
              <a:defRPr sz="1250" b="1">
                <a:solidFill>
                  <a:srgbClr val="0284C7"/>
                </a:solidFill>
                <a:latin typeface="Segoe UI"/>
              </a:defRPr>
            </a:pPr>
            <a:r>
              <a:t>•  Stratified Train-Test Split (80/20): </a:t>
            </a:r>
            <a:r>
              <a:rPr sz="1250" b="0">
                <a:solidFill>
                  <a:srgbClr val="334155"/>
                </a:solidFill>
                <a:latin typeface="Segoe UI"/>
              </a:rPr>
              <a:t>Split data into 35,751 training and 8,938 testing samples. Using a stratified split ensures the class ratio is identical in both partitions.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a:spAutoFit/>
          </a:bodyPr>
          <a:lstStyle/>
          <a:p>
            <a:pPr>
              <a:defRPr sz="3600" b="1">
                <a:solidFill>
                  <a:srgbClr val="0F172A"/>
                </a:solidFill>
                <a:latin typeface="Segoe UI"/>
              </a:defRPr>
            </a:pPr>
            <a:r>
              <a:t>Model Performance Comparison</a:t>
            </a:r>
          </a:p>
        </p:txBody>
      </p:sp>
      <p:sp>
        <p:nvSpPr>
          <p:cNvPr id="3" name="Rectangle 2"/>
          <p:cNvSpPr/>
          <p:nvPr/>
        </p:nvSpPr>
        <p:spPr>
          <a:xfrm>
            <a:off x="731520" y="1280160"/>
            <a:ext cx="2011680"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645920"/>
          <a:ext cx="5303520" cy="4389120"/>
        </p:xfrm>
        <a:graphic>
          <a:graphicData uri="http://schemas.openxmlformats.org/drawingml/2006/table">
            <a:tbl>
              <a:tblPr firstRow="1" bandRow="1">
                <a:tableStyleId>{5C22544A-7EE6-4342-B048-85BDC9FD1C3A}</a:tableStyleId>
              </a:tblPr>
              <a:tblGrid>
                <a:gridCol w="1828800"/>
                <a:gridCol w="868680"/>
                <a:gridCol w="868680"/>
                <a:gridCol w="868680"/>
                <a:gridCol w="868680"/>
              </a:tblGrid>
              <a:tr h="627017">
                <a:tc>
                  <a:txBody>
                    <a:bodyPr/>
                    <a:lstStyle/>
                    <a:p>
                      <a:pPr algn="l">
                        <a:defRPr sz="1200" b="1">
                          <a:solidFill>
                            <a:srgbClr val="FFFFFF"/>
                          </a:solidFill>
                          <a:latin typeface="Segoe UI"/>
                        </a:defRPr>
                      </a:pPr>
                      <a:r>
                        <a:t>Model</a:t>
                      </a:r>
                    </a:p>
                  </a:txBody>
                  <a:tcPr>
                    <a:solidFill>
                      <a:srgbClr val="0F172A"/>
                    </a:solidFill>
                  </a:tcPr>
                </a:tc>
                <a:tc>
                  <a:txBody>
                    <a:bodyPr/>
                    <a:lstStyle/>
                    <a:p>
                      <a:pPr algn="ctr">
                        <a:defRPr sz="1200" b="1">
                          <a:solidFill>
                            <a:srgbClr val="FFFFFF"/>
                          </a:solidFill>
                          <a:latin typeface="Segoe UI"/>
                        </a:defRPr>
                      </a:pPr>
                      <a:r>
                        <a:t>Accuracy</a:t>
                      </a:r>
                    </a:p>
                  </a:txBody>
                  <a:tcPr>
                    <a:solidFill>
                      <a:srgbClr val="0F172A"/>
                    </a:solidFill>
                  </a:tcPr>
                </a:tc>
                <a:tc>
                  <a:txBody>
                    <a:bodyPr/>
                    <a:lstStyle/>
                    <a:p>
                      <a:pPr algn="ctr">
                        <a:defRPr sz="1200" b="1">
                          <a:solidFill>
                            <a:srgbClr val="FFFFFF"/>
                          </a:solidFill>
                          <a:latin typeface="Segoe UI"/>
                        </a:defRPr>
                      </a:pPr>
                      <a:r>
                        <a:t>Precision</a:t>
                      </a:r>
                    </a:p>
                  </a:txBody>
                  <a:tcPr>
                    <a:solidFill>
                      <a:srgbClr val="0F172A"/>
                    </a:solidFill>
                  </a:tcPr>
                </a:tc>
                <a:tc>
                  <a:txBody>
                    <a:bodyPr/>
                    <a:lstStyle/>
                    <a:p>
                      <a:pPr algn="ctr">
                        <a:defRPr sz="1200" b="1">
                          <a:solidFill>
                            <a:srgbClr val="FFFFFF"/>
                          </a:solidFill>
                          <a:latin typeface="Segoe UI"/>
                        </a:defRPr>
                      </a:pPr>
                      <a:r>
                        <a:t>Recall</a:t>
                      </a:r>
                    </a:p>
                  </a:txBody>
                  <a:tcPr>
                    <a:solidFill>
                      <a:srgbClr val="0F172A"/>
                    </a:solidFill>
                  </a:tcPr>
                </a:tc>
                <a:tc>
                  <a:txBody>
                    <a:bodyPr/>
                    <a:lstStyle/>
                    <a:p>
                      <a:pPr algn="ctr">
                        <a:defRPr sz="1200" b="1">
                          <a:solidFill>
                            <a:srgbClr val="FFFFFF"/>
                          </a:solidFill>
                          <a:latin typeface="Segoe UI"/>
                        </a:defRPr>
                      </a:pPr>
                      <a:r>
                        <a:t>F1 Score</a:t>
                      </a:r>
                    </a:p>
                  </a:txBody>
                  <a:tcPr>
                    <a:solidFill>
                      <a:srgbClr val="0F172A"/>
                    </a:solidFill>
                  </a:tcPr>
                </a:tc>
              </a:tr>
              <a:tr h="627017">
                <a:tc>
                  <a:txBody>
                    <a:bodyPr/>
                    <a:lstStyle/>
                    <a:p>
                      <a:pPr algn="l">
                        <a:defRPr sz="1150" b="1">
                          <a:solidFill>
                            <a:srgbClr val="0F172A"/>
                          </a:solidFill>
                          <a:latin typeface="Segoe UI"/>
                        </a:defRPr>
                      </a:pPr>
                      <a:r>
                        <a:t>Random Forest</a:t>
                      </a:r>
                    </a:p>
                  </a:txBody>
                  <a:tcPr>
                    <a:solidFill>
                      <a:srgbClr val="F1F5F9"/>
                    </a:solidFill>
                  </a:tcPr>
                </a:tc>
                <a:tc>
                  <a:txBody>
                    <a:bodyPr/>
                    <a:lstStyle/>
                    <a:p>
                      <a:pPr algn="ctr">
                        <a:defRPr sz="1150" b="0">
                          <a:solidFill>
                            <a:srgbClr val="334155"/>
                          </a:solidFill>
                          <a:latin typeface="Segoe UI"/>
                        </a:defRPr>
                      </a:pPr>
                      <a:r>
                        <a:t>99.88%</a:t>
                      </a:r>
                    </a:p>
                  </a:txBody>
                  <a:tcPr>
                    <a:solidFill>
                      <a:srgbClr val="F1F5F9"/>
                    </a:solidFill>
                  </a:tcPr>
                </a:tc>
                <a:tc>
                  <a:txBody>
                    <a:bodyPr/>
                    <a:lstStyle/>
                    <a:p>
                      <a:pPr algn="ctr">
                        <a:defRPr sz="1150" b="0">
                          <a:solidFill>
                            <a:srgbClr val="334155"/>
                          </a:solidFill>
                          <a:latin typeface="Segoe UI"/>
                        </a:defRPr>
                      </a:pPr>
                      <a:r>
                        <a:t>99.86%</a:t>
                      </a:r>
                    </a:p>
                  </a:txBody>
                  <a:tcPr>
                    <a:solidFill>
                      <a:srgbClr val="F1F5F9"/>
                    </a:solidFill>
                  </a:tcPr>
                </a:tc>
                <a:tc>
                  <a:txBody>
                    <a:bodyPr/>
                    <a:lstStyle/>
                    <a:p>
                      <a:pPr algn="ctr">
                        <a:defRPr sz="1150" b="0">
                          <a:solidFill>
                            <a:srgbClr val="334155"/>
                          </a:solidFill>
                          <a:latin typeface="Segoe UI"/>
                        </a:defRPr>
                      </a:pPr>
                      <a:r>
                        <a:t>99.88%</a:t>
                      </a:r>
                    </a:p>
                  </a:txBody>
                  <a:tcPr>
                    <a:solidFill>
                      <a:srgbClr val="F1F5F9"/>
                    </a:solidFill>
                  </a:tcPr>
                </a:tc>
                <a:tc>
                  <a:txBody>
                    <a:bodyPr/>
                    <a:lstStyle/>
                    <a:p>
                      <a:pPr algn="ctr">
                        <a:defRPr sz="1150" b="0">
                          <a:solidFill>
                            <a:srgbClr val="334155"/>
                          </a:solidFill>
                          <a:latin typeface="Segoe UI"/>
                        </a:defRPr>
                      </a:pPr>
                      <a:r>
                        <a:t>99.87%</a:t>
                      </a:r>
                    </a:p>
                  </a:txBody>
                  <a:tcPr>
                    <a:solidFill>
                      <a:srgbClr val="F1F5F9"/>
                    </a:solidFill>
                  </a:tcPr>
                </a:tc>
              </a:tr>
              <a:tr h="627017">
                <a:tc>
                  <a:txBody>
                    <a:bodyPr/>
                    <a:lstStyle/>
                    <a:p>
                      <a:pPr algn="l">
                        <a:defRPr sz="1150" b="1">
                          <a:solidFill>
                            <a:srgbClr val="0F172A"/>
                          </a:solidFill>
                          <a:latin typeface="Segoe UI"/>
                        </a:defRPr>
                      </a:pPr>
                      <a:r>
                        <a:t>Linear SVM</a:t>
                      </a:r>
                    </a:p>
                  </a:txBody>
                  <a:tcPr>
                    <a:solidFill>
                      <a:srgbClr val="FFFFFF"/>
                    </a:solidFill>
                  </a:tcPr>
                </a:tc>
                <a:tc>
                  <a:txBody>
                    <a:bodyPr/>
                    <a:lstStyle/>
                    <a:p>
                      <a:pPr algn="ctr">
                        <a:defRPr sz="1150" b="0">
                          <a:solidFill>
                            <a:srgbClr val="334155"/>
                          </a:solidFill>
                          <a:latin typeface="Segoe UI"/>
                        </a:defRPr>
                      </a:pPr>
                      <a:r>
                        <a:t>99.69%</a:t>
                      </a:r>
                    </a:p>
                  </a:txBody>
                  <a:tcPr>
                    <a:solidFill>
                      <a:srgbClr val="FFFFFF"/>
                    </a:solidFill>
                  </a:tcPr>
                </a:tc>
                <a:tc>
                  <a:txBody>
                    <a:bodyPr/>
                    <a:lstStyle/>
                    <a:p>
                      <a:pPr algn="ctr">
                        <a:defRPr sz="1150" b="0">
                          <a:solidFill>
                            <a:srgbClr val="334155"/>
                          </a:solidFill>
                          <a:latin typeface="Segoe UI"/>
                        </a:defRPr>
                      </a:pPr>
                      <a:r>
                        <a:t>99.60%</a:t>
                      </a:r>
                    </a:p>
                  </a:txBody>
                  <a:tcPr>
                    <a:solidFill>
                      <a:srgbClr val="FFFFFF"/>
                    </a:solidFill>
                  </a:tcPr>
                </a:tc>
                <a:tc>
                  <a:txBody>
                    <a:bodyPr/>
                    <a:lstStyle/>
                    <a:p>
                      <a:pPr algn="ctr">
                        <a:defRPr sz="1150" b="0">
                          <a:solidFill>
                            <a:srgbClr val="334155"/>
                          </a:solidFill>
                          <a:latin typeface="Segoe UI"/>
                        </a:defRPr>
                      </a:pPr>
                      <a:r>
                        <a:t>99.74%</a:t>
                      </a:r>
                    </a:p>
                  </a:txBody>
                  <a:tcPr>
                    <a:solidFill>
                      <a:srgbClr val="FFFFFF"/>
                    </a:solidFill>
                  </a:tcPr>
                </a:tc>
                <a:tc>
                  <a:txBody>
                    <a:bodyPr/>
                    <a:lstStyle/>
                    <a:p>
                      <a:pPr algn="ctr">
                        <a:defRPr sz="1150" b="0">
                          <a:solidFill>
                            <a:srgbClr val="334155"/>
                          </a:solidFill>
                          <a:latin typeface="Segoe UI"/>
                        </a:defRPr>
                      </a:pPr>
                      <a:r>
                        <a:t>99.67%</a:t>
                      </a:r>
                    </a:p>
                  </a:txBody>
                  <a:tcPr>
                    <a:solidFill>
                      <a:srgbClr val="FFFFFF"/>
                    </a:solidFill>
                  </a:tcPr>
                </a:tc>
              </a:tr>
              <a:tr h="627017">
                <a:tc>
                  <a:txBody>
                    <a:bodyPr/>
                    <a:lstStyle/>
                    <a:p>
                      <a:pPr algn="l">
                        <a:defRPr sz="1150" b="1">
                          <a:solidFill>
                            <a:srgbClr val="0F172A"/>
                          </a:solidFill>
                          <a:latin typeface="Segoe UI"/>
                        </a:defRPr>
                      </a:pPr>
                      <a:r>
                        <a:t>Passive Aggressive</a:t>
                      </a:r>
                    </a:p>
                  </a:txBody>
                  <a:tcPr>
                    <a:solidFill>
                      <a:srgbClr val="F1F5F9"/>
                    </a:solidFill>
                  </a:tcPr>
                </a:tc>
                <a:tc>
                  <a:txBody>
                    <a:bodyPr/>
                    <a:lstStyle/>
                    <a:p>
                      <a:pPr algn="ctr">
                        <a:defRPr sz="1150" b="0">
                          <a:solidFill>
                            <a:srgbClr val="334155"/>
                          </a:solidFill>
                          <a:latin typeface="Segoe UI"/>
                        </a:defRPr>
                      </a:pPr>
                      <a:r>
                        <a:t>99.68%</a:t>
                      </a:r>
                    </a:p>
                  </a:txBody>
                  <a:tcPr>
                    <a:solidFill>
                      <a:srgbClr val="F1F5F9"/>
                    </a:solidFill>
                  </a:tcPr>
                </a:tc>
                <a:tc>
                  <a:txBody>
                    <a:bodyPr/>
                    <a:lstStyle/>
                    <a:p>
                      <a:pPr algn="ctr">
                        <a:defRPr sz="1150" b="0">
                          <a:solidFill>
                            <a:srgbClr val="334155"/>
                          </a:solidFill>
                          <a:latin typeface="Segoe UI"/>
                        </a:defRPr>
                      </a:pPr>
                      <a:r>
                        <a:t>99.58%</a:t>
                      </a:r>
                    </a:p>
                  </a:txBody>
                  <a:tcPr>
                    <a:solidFill>
                      <a:srgbClr val="F1F5F9"/>
                    </a:solidFill>
                  </a:tcPr>
                </a:tc>
                <a:tc>
                  <a:txBody>
                    <a:bodyPr/>
                    <a:lstStyle/>
                    <a:p>
                      <a:pPr algn="ctr">
                        <a:defRPr sz="1150" b="0">
                          <a:solidFill>
                            <a:srgbClr val="334155"/>
                          </a:solidFill>
                          <a:latin typeface="Segoe UI"/>
                        </a:defRPr>
                      </a:pPr>
                      <a:r>
                        <a:t>99.74%</a:t>
                      </a:r>
                    </a:p>
                  </a:txBody>
                  <a:tcPr>
                    <a:solidFill>
                      <a:srgbClr val="F1F5F9"/>
                    </a:solidFill>
                  </a:tcPr>
                </a:tc>
                <a:tc>
                  <a:txBody>
                    <a:bodyPr/>
                    <a:lstStyle/>
                    <a:p>
                      <a:pPr algn="ctr">
                        <a:defRPr sz="1150" b="0">
                          <a:solidFill>
                            <a:srgbClr val="334155"/>
                          </a:solidFill>
                          <a:latin typeface="Segoe UI"/>
                        </a:defRPr>
                      </a:pPr>
                      <a:r>
                        <a:t>99.66%</a:t>
                      </a:r>
                    </a:p>
                  </a:txBody>
                  <a:tcPr>
                    <a:solidFill>
                      <a:srgbClr val="F1F5F9"/>
                    </a:solidFill>
                  </a:tcPr>
                </a:tc>
              </a:tr>
              <a:tr h="627017">
                <a:tc>
                  <a:txBody>
                    <a:bodyPr/>
                    <a:lstStyle/>
                    <a:p>
                      <a:pPr algn="l">
                        <a:defRPr sz="1150" b="1">
                          <a:solidFill>
                            <a:srgbClr val="0F172A"/>
                          </a:solidFill>
                          <a:latin typeface="Segoe UI"/>
                        </a:defRPr>
                      </a:pPr>
                      <a:r>
                        <a:t>Decision Tree</a:t>
                      </a:r>
                    </a:p>
                  </a:txBody>
                  <a:tcPr>
                    <a:solidFill>
                      <a:srgbClr val="FFFFFF"/>
                    </a:solidFill>
                  </a:tcPr>
                </a:tc>
                <a:tc>
                  <a:txBody>
                    <a:bodyPr/>
                    <a:lstStyle/>
                    <a:p>
                      <a:pPr algn="ctr">
                        <a:defRPr sz="1150" b="0">
                          <a:solidFill>
                            <a:srgbClr val="334155"/>
                          </a:solidFill>
                          <a:latin typeface="Segoe UI"/>
                        </a:defRPr>
                      </a:pPr>
                      <a:r>
                        <a:t>99.61%</a:t>
                      </a:r>
                    </a:p>
                  </a:txBody>
                  <a:tcPr>
                    <a:solidFill>
                      <a:srgbClr val="FFFFFF"/>
                    </a:solidFill>
                  </a:tcPr>
                </a:tc>
                <a:tc>
                  <a:txBody>
                    <a:bodyPr/>
                    <a:lstStyle/>
                    <a:p>
                      <a:pPr algn="ctr">
                        <a:defRPr sz="1150" b="0">
                          <a:solidFill>
                            <a:srgbClr val="334155"/>
                          </a:solidFill>
                          <a:latin typeface="Segoe UI"/>
                        </a:defRPr>
                      </a:pPr>
                      <a:r>
                        <a:t>99.60%</a:t>
                      </a:r>
                    </a:p>
                  </a:txBody>
                  <a:tcPr>
                    <a:solidFill>
                      <a:srgbClr val="FFFFFF"/>
                    </a:solidFill>
                  </a:tcPr>
                </a:tc>
                <a:tc>
                  <a:txBody>
                    <a:bodyPr/>
                    <a:lstStyle/>
                    <a:p>
                      <a:pPr algn="ctr">
                        <a:defRPr sz="1150" b="0">
                          <a:solidFill>
                            <a:srgbClr val="334155"/>
                          </a:solidFill>
                          <a:latin typeface="Segoe UI"/>
                        </a:defRPr>
                      </a:pPr>
                      <a:r>
                        <a:t>99.58%</a:t>
                      </a:r>
                    </a:p>
                  </a:txBody>
                  <a:tcPr>
                    <a:solidFill>
                      <a:srgbClr val="FFFFFF"/>
                    </a:solidFill>
                  </a:tcPr>
                </a:tc>
                <a:tc>
                  <a:txBody>
                    <a:bodyPr/>
                    <a:lstStyle/>
                    <a:p>
                      <a:pPr algn="ctr">
                        <a:defRPr sz="1150" b="0">
                          <a:solidFill>
                            <a:srgbClr val="334155"/>
                          </a:solidFill>
                          <a:latin typeface="Segoe UI"/>
                        </a:defRPr>
                      </a:pPr>
                      <a:r>
                        <a:t>99.59%</a:t>
                      </a:r>
                    </a:p>
                  </a:txBody>
                  <a:tcPr>
                    <a:solidFill>
                      <a:srgbClr val="FFFFFF"/>
                    </a:solidFill>
                  </a:tcPr>
                </a:tc>
              </a:tr>
              <a:tr h="627017">
                <a:tc>
                  <a:txBody>
                    <a:bodyPr/>
                    <a:lstStyle/>
                    <a:p>
                      <a:pPr algn="l">
                        <a:defRPr sz="1150" b="1">
                          <a:solidFill>
                            <a:srgbClr val="0F172A"/>
                          </a:solidFill>
                          <a:latin typeface="Segoe UI"/>
                        </a:defRPr>
                      </a:pPr>
                      <a:r>
                        <a:t>Logistic Regression</a:t>
                      </a:r>
                    </a:p>
                  </a:txBody>
                  <a:tcPr>
                    <a:solidFill>
                      <a:srgbClr val="F1F5F9"/>
                    </a:solidFill>
                  </a:tcPr>
                </a:tc>
                <a:tc>
                  <a:txBody>
                    <a:bodyPr/>
                    <a:lstStyle/>
                    <a:p>
                      <a:pPr algn="ctr">
                        <a:defRPr sz="1150" b="0">
                          <a:solidFill>
                            <a:srgbClr val="334155"/>
                          </a:solidFill>
                          <a:latin typeface="Segoe UI"/>
                        </a:defRPr>
                      </a:pPr>
                      <a:r>
                        <a:t>99.23%</a:t>
                      </a:r>
                    </a:p>
                  </a:txBody>
                  <a:tcPr>
                    <a:solidFill>
                      <a:srgbClr val="F1F5F9"/>
                    </a:solidFill>
                  </a:tcPr>
                </a:tc>
                <a:tc>
                  <a:txBody>
                    <a:bodyPr/>
                    <a:lstStyle/>
                    <a:p>
                      <a:pPr algn="ctr">
                        <a:defRPr sz="1150" b="0">
                          <a:solidFill>
                            <a:srgbClr val="334155"/>
                          </a:solidFill>
                          <a:latin typeface="Segoe UI"/>
                        </a:defRPr>
                      </a:pPr>
                      <a:r>
                        <a:t>98.92%</a:t>
                      </a:r>
                    </a:p>
                  </a:txBody>
                  <a:tcPr>
                    <a:solidFill>
                      <a:srgbClr val="F1F5F9"/>
                    </a:solidFill>
                  </a:tcPr>
                </a:tc>
                <a:tc>
                  <a:txBody>
                    <a:bodyPr/>
                    <a:lstStyle/>
                    <a:p>
                      <a:pPr algn="ctr">
                        <a:defRPr sz="1150" b="0">
                          <a:solidFill>
                            <a:srgbClr val="334155"/>
                          </a:solidFill>
                          <a:latin typeface="Segoe UI"/>
                        </a:defRPr>
                      </a:pPr>
                      <a:r>
                        <a:t>99.46%</a:t>
                      </a:r>
                    </a:p>
                  </a:txBody>
                  <a:tcPr>
                    <a:solidFill>
                      <a:srgbClr val="F1F5F9"/>
                    </a:solidFill>
                  </a:tcPr>
                </a:tc>
                <a:tc>
                  <a:txBody>
                    <a:bodyPr/>
                    <a:lstStyle/>
                    <a:p>
                      <a:pPr algn="ctr">
                        <a:defRPr sz="1150" b="0">
                          <a:solidFill>
                            <a:srgbClr val="334155"/>
                          </a:solidFill>
                          <a:latin typeface="Segoe UI"/>
                        </a:defRPr>
                      </a:pPr>
                      <a:r>
                        <a:t>99.19%</a:t>
                      </a:r>
                    </a:p>
                  </a:txBody>
                  <a:tcPr>
                    <a:solidFill>
                      <a:srgbClr val="F1F5F9"/>
                    </a:solidFill>
                  </a:tcPr>
                </a:tc>
              </a:tr>
              <a:tr h="627018">
                <a:tc>
                  <a:txBody>
                    <a:bodyPr/>
                    <a:lstStyle/>
                    <a:p>
                      <a:pPr algn="l">
                        <a:defRPr sz="1150" b="1">
                          <a:solidFill>
                            <a:srgbClr val="0F172A"/>
                          </a:solidFill>
                          <a:latin typeface="Segoe UI"/>
                        </a:defRPr>
                      </a:pPr>
                      <a:r>
                        <a:t>Naive Bayes</a:t>
                      </a:r>
                    </a:p>
                  </a:txBody>
                  <a:tcPr>
                    <a:solidFill>
                      <a:srgbClr val="FFFFFF"/>
                    </a:solidFill>
                  </a:tcPr>
                </a:tc>
                <a:tc>
                  <a:txBody>
                    <a:bodyPr/>
                    <a:lstStyle/>
                    <a:p>
                      <a:pPr algn="ctr">
                        <a:defRPr sz="1150" b="0">
                          <a:solidFill>
                            <a:srgbClr val="334155"/>
                          </a:solidFill>
                          <a:latin typeface="Segoe UI"/>
                        </a:defRPr>
                      </a:pPr>
                      <a:r>
                        <a:t>94.93%</a:t>
                      </a:r>
                    </a:p>
                  </a:txBody>
                  <a:tcPr>
                    <a:solidFill>
                      <a:srgbClr val="FFFFFF"/>
                    </a:solidFill>
                  </a:tcPr>
                </a:tc>
                <a:tc>
                  <a:txBody>
                    <a:bodyPr/>
                    <a:lstStyle/>
                    <a:p>
                      <a:pPr algn="ctr">
                        <a:defRPr sz="1150" b="0">
                          <a:solidFill>
                            <a:srgbClr val="334155"/>
                          </a:solidFill>
                          <a:latin typeface="Segoe UI"/>
                        </a:defRPr>
                      </a:pPr>
                      <a:r>
                        <a:t>94.42%</a:t>
                      </a:r>
                    </a:p>
                  </a:txBody>
                  <a:tcPr>
                    <a:solidFill>
                      <a:srgbClr val="FFFFFF"/>
                    </a:solidFill>
                  </a:tcPr>
                </a:tc>
                <a:tc>
                  <a:txBody>
                    <a:bodyPr/>
                    <a:lstStyle/>
                    <a:p>
                      <a:pPr algn="ctr">
                        <a:defRPr sz="1150" b="0">
                          <a:solidFill>
                            <a:srgbClr val="334155"/>
                          </a:solidFill>
                          <a:latin typeface="Segoe UI"/>
                        </a:defRPr>
                      </a:pPr>
                      <a:r>
                        <a:t>94.93%</a:t>
                      </a:r>
                    </a:p>
                  </a:txBody>
                  <a:tcPr>
                    <a:solidFill>
                      <a:srgbClr val="FFFFFF"/>
                    </a:solidFill>
                  </a:tcPr>
                </a:tc>
                <a:tc>
                  <a:txBody>
                    <a:bodyPr/>
                    <a:lstStyle/>
                    <a:p>
                      <a:pPr algn="ctr">
                        <a:defRPr sz="1150" b="0">
                          <a:solidFill>
                            <a:srgbClr val="334155"/>
                          </a:solidFill>
                          <a:latin typeface="Segoe UI"/>
                        </a:defRPr>
                      </a:pPr>
                      <a:r>
                        <a:t>94.68%</a:t>
                      </a:r>
                    </a:p>
                  </a:txBody>
                  <a:tcPr>
                    <a:solidFill>
                      <a:srgbClr val="FFFFFF"/>
                    </a:solidFill>
                  </a:tcPr>
                </a:tc>
              </a:tr>
            </a:tbl>
          </a:graphicData>
        </a:graphic>
      </p:graphicFrame>
      <p:pic>
        <p:nvPicPr>
          <p:cNvPr id="5" name="Picture 4" descr="roc_curve_comparison.png"/>
          <p:cNvPicPr>
            <a:picLocks noChangeAspect="1"/>
          </p:cNvPicPr>
          <p:nvPr/>
        </p:nvPicPr>
        <p:blipFill>
          <a:blip r:embed="rId2"/>
          <a:stretch>
            <a:fillRect/>
          </a:stretch>
        </p:blipFill>
        <p:spPr>
          <a:xfrm>
            <a:off x="6217920" y="1645920"/>
            <a:ext cx="5212080" cy="43891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a:spAutoFit/>
          </a:bodyPr>
          <a:lstStyle/>
          <a:p>
            <a:pPr>
              <a:defRPr sz="3600" b="1">
                <a:solidFill>
                  <a:srgbClr val="0F172A"/>
                </a:solidFill>
                <a:latin typeface="Segoe UI"/>
              </a:defRPr>
            </a:pPr>
            <a:r>
              <a:t>Confusion Matrix &amp; Error Analysis</a:t>
            </a:r>
          </a:p>
        </p:txBody>
      </p:sp>
      <p:sp>
        <p:nvSpPr>
          <p:cNvPr id="3" name="Rectangle 2"/>
          <p:cNvSpPr/>
          <p:nvPr/>
        </p:nvSpPr>
        <p:spPr>
          <a:xfrm>
            <a:off x="731520" y="1280160"/>
            <a:ext cx="2011680"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f_confusion_matrix.png"/>
          <p:cNvPicPr>
            <a:picLocks noChangeAspect="1"/>
          </p:cNvPicPr>
          <p:nvPr/>
        </p:nvPicPr>
        <p:blipFill>
          <a:blip r:embed="rId2"/>
          <a:stretch>
            <a:fillRect/>
          </a:stretch>
        </p:blipFill>
        <p:spPr>
          <a:xfrm>
            <a:off x="914400" y="1645920"/>
            <a:ext cx="4389120" cy="3657600"/>
          </a:xfrm>
          <a:prstGeom prst="rect">
            <a:avLst/>
          </a:prstGeom>
        </p:spPr>
      </p:pic>
      <p:sp>
        <p:nvSpPr>
          <p:cNvPr id="5" name="TextBox 4"/>
          <p:cNvSpPr txBox="1"/>
          <p:nvPr/>
        </p:nvSpPr>
        <p:spPr>
          <a:xfrm>
            <a:off x="731520" y="5394960"/>
            <a:ext cx="4754880" cy="1097280"/>
          </a:xfrm>
          <a:prstGeom prst="rect">
            <a:avLst/>
          </a:prstGeom>
          <a:noFill/>
        </p:spPr>
        <p:txBody>
          <a:bodyPr wrap="square" lIns="0" tIns="0">
            <a:spAutoFit/>
          </a:bodyPr>
          <a:lstStyle/>
          <a:p>
            <a:pPr>
              <a:spcAft>
                <a:spcPts val="400"/>
              </a:spcAft>
              <a:defRPr sz="1500" b="1">
                <a:solidFill>
                  <a:srgbClr val="0F172A"/>
                </a:solidFill>
                <a:latin typeface="Segoe UI"/>
              </a:defRPr>
            </a:pPr>
            <a:r>
              <a:t>RANDOM FOREST (BEST PERFORMANCE)</a:t>
            </a:r>
          </a:p>
          <a:p>
            <a:pPr>
              <a:spcAft>
                <a:spcPts val="200"/>
              </a:spcAft>
              <a:defRPr sz="1300">
                <a:solidFill>
                  <a:srgbClr val="334155"/>
                </a:solidFill>
                <a:latin typeface="Segoe UI"/>
              </a:defRPr>
            </a:pPr>
            <a:r>
              <a:t>Accuracy: 99.88%  |  F1 Score: 99.87%</a:t>
            </a:r>
            <a:br/>
            <a:r>
              <a:t>• True Negatives (Fake): 4,690  |  True Positives (Real): 4,237</a:t>
            </a:r>
            <a:br/>
            <a:r>
              <a:t>• False Positives: 6  |  False Negatives: 5</a:t>
            </a:r>
            <a:br/>
            <a:r>
              <a:t>Only 11 total errors out of 8,938 test samples.</a:t>
            </a:r>
          </a:p>
        </p:txBody>
      </p:sp>
      <p:pic>
        <p:nvPicPr>
          <p:cNvPr id="6" name="Picture 5" descr="lr_confusion_matrix.png"/>
          <p:cNvPicPr>
            <a:picLocks noChangeAspect="1"/>
          </p:cNvPicPr>
          <p:nvPr/>
        </p:nvPicPr>
        <p:blipFill>
          <a:blip r:embed="rId3"/>
          <a:stretch>
            <a:fillRect/>
          </a:stretch>
        </p:blipFill>
        <p:spPr>
          <a:xfrm>
            <a:off x="6858000" y="1645920"/>
            <a:ext cx="4389120" cy="3657600"/>
          </a:xfrm>
          <a:prstGeom prst="rect">
            <a:avLst/>
          </a:prstGeom>
        </p:spPr>
      </p:pic>
      <p:sp>
        <p:nvSpPr>
          <p:cNvPr id="7" name="TextBox 6"/>
          <p:cNvSpPr txBox="1"/>
          <p:nvPr/>
        </p:nvSpPr>
        <p:spPr>
          <a:xfrm>
            <a:off x="6675120" y="5394960"/>
            <a:ext cx="4754880" cy="1097280"/>
          </a:xfrm>
          <a:prstGeom prst="rect">
            <a:avLst/>
          </a:prstGeom>
          <a:noFill/>
        </p:spPr>
        <p:txBody>
          <a:bodyPr wrap="square" lIns="0" tIns="0">
            <a:spAutoFit/>
          </a:bodyPr>
          <a:lstStyle/>
          <a:p>
            <a:pPr>
              <a:spcAft>
                <a:spcPts val="400"/>
              </a:spcAft>
              <a:defRPr sz="1500" b="1">
                <a:solidFill>
                  <a:srgbClr val="0F172A"/>
                </a:solidFill>
                <a:latin typeface="Segoe UI"/>
              </a:defRPr>
            </a:pPr>
            <a:r>
              <a:t>LOGISTIC REGRESSION (BASE MODEL)</a:t>
            </a:r>
          </a:p>
          <a:p>
            <a:pPr>
              <a:spcAft>
                <a:spcPts val="200"/>
              </a:spcAft>
              <a:defRPr sz="1300">
                <a:solidFill>
                  <a:srgbClr val="334155"/>
                </a:solidFill>
                <a:latin typeface="Segoe UI"/>
              </a:defRPr>
            </a:pPr>
            <a:r>
              <a:t>Accuracy: 99.23%  |  F1 Score: 99.19%</a:t>
            </a:r>
            <a:br/>
            <a:r>
              <a:t>• True Negatives (Fake): 4,650  |  True Positives (Real): 4,219</a:t>
            </a:r>
            <a:br/>
            <a:r>
              <a:t>• False Positives: 46  |  False Negatives: 23</a:t>
            </a:r>
            <a:br/>
            <a:r>
              <a:t>Slightly higher error rates, but runs in 0.28 seconds.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a:spAutoFit/>
          </a:bodyPr>
          <a:lstStyle/>
          <a:p>
            <a:pPr>
              <a:defRPr sz="2800" b="1">
                <a:solidFill>
                  <a:srgbClr val="FFFFFF"/>
                </a:solidFill>
                <a:latin typeface="Segoe UI"/>
              </a:defRPr>
            </a:pPr>
            <a:r>
              <a:t>Conclusions &amp; Critical Takeaways</a:t>
            </a:r>
          </a:p>
        </p:txBody>
      </p:sp>
      <p:sp>
        <p:nvSpPr>
          <p:cNvPr id="3" name="Rectangle 2"/>
          <p:cNvSpPr/>
          <p:nvPr/>
        </p:nvSpPr>
        <p:spPr>
          <a:xfrm>
            <a:off x="731520" y="1280160"/>
            <a:ext cx="2011680" cy="36576"/>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728655" cy="4389120"/>
          </a:xfrm>
          <a:prstGeom prst="rect">
            <a:avLst/>
          </a:prstGeom>
          <a:noFill/>
        </p:spPr>
        <p:txBody>
          <a:bodyPr wrap="square" lIns="0" tIns="0">
            <a:spAutoFit/>
          </a:bodyPr>
          <a:lstStyle/>
          <a:p>
            <a:pPr>
              <a:spcAft>
                <a:spcPts val="600"/>
              </a:spcAft>
              <a:defRPr sz="1600" b="1">
                <a:solidFill>
                  <a:srgbClr val="38BDF8"/>
                </a:solidFill>
                <a:latin typeface="Segoe UI"/>
              </a:defRPr>
            </a:pPr>
            <a:r>
              <a:t>1. High Efficacy of Traditional Classifiers</a:t>
            </a:r>
          </a:p>
          <a:p>
            <a:pPr>
              <a:spcAft>
                <a:spcPts val="2000"/>
              </a:spcAft>
              <a:defRPr sz="1300">
                <a:solidFill>
                  <a:srgbClr val="94A3B8"/>
                </a:solidFill>
                <a:latin typeface="Segoe UI"/>
              </a:defRPr>
            </a:pPr>
            <a:r>
              <a:t>Traditional machine learning algorithms (Random Forest, SVM, Passive Aggressive) achieved near-perfect accuracy (&gt;99.6%). This indicates that when raw text is preprocessed rigorously (cleaning URLs, HTML, punctuation, and selective stopword removal), TF-IDF vectorization with unigrams and bigrams provides a highly discriminative feature space.</a:t>
            </a:r>
          </a:p>
          <a:p>
            <a:pPr>
              <a:spcAft>
                <a:spcPts val="600"/>
              </a:spcAft>
              <a:defRPr sz="1600" b="1">
                <a:solidFill>
                  <a:srgbClr val="38BDF8"/>
                </a:solidFill>
                <a:latin typeface="Segoe UI"/>
              </a:defRPr>
            </a:pPr>
            <a:r>
              <a:t>2. Critical Technical Insight: Retaining Negations</a:t>
            </a:r>
          </a:p>
          <a:p>
            <a:pPr>
              <a:spcAft>
                <a:spcPts val="2000"/>
              </a:spcAft>
              <a:defRPr sz="1300">
                <a:solidFill>
                  <a:srgbClr val="94A3B8"/>
                </a:solidFill>
                <a:latin typeface="Segoe UI"/>
              </a:defRPr>
            </a:pPr>
            <a:r>
              <a:t>In the stopword removal stage, keeping negation terms ('not', 'no', 'nor') was a crucial design choice. Removing these words is a common mistake that strips context, as 'not real' and 'real' would map to the same core representation. Retaining them preserves basic logic structure, which benefits TF-IDF classifiers.</a:t>
            </a:r>
          </a:p>
          <a:p>
            <a:pPr>
              <a:spcAft>
                <a:spcPts val="600"/>
              </a:spcAft>
              <a:defRPr sz="1600" b="1">
                <a:solidFill>
                  <a:srgbClr val="38BDF8"/>
                </a:solidFill>
                <a:latin typeface="Segoe UI"/>
              </a:defRPr>
            </a:pPr>
            <a:r>
              <a:t>3. Critical Evaluation: Source &amp; Publisher Bias</a:t>
            </a:r>
          </a:p>
          <a:p>
            <a:pPr>
              <a:spcAft>
                <a:spcPts val="2000"/>
              </a:spcAft>
              <a:defRPr sz="1300">
                <a:solidFill>
                  <a:srgbClr val="94A3B8"/>
                </a:solidFill>
                <a:latin typeface="Segoe UI"/>
              </a:defRPr>
            </a:pPr>
            <a:r>
              <a:t>A deeper investigation of the dataset reveals a major source bias. Real news is heavily comprised of Reuters articles, which regularly start with specific signifiers like 'WASHINGTON (Reuters)' or '(Reuters)'. The classifiers likely pick up on these exact bigram features ('reuters', 'washington reuters') as strong proxies for authenticity. In real-world deployment, these publisher signifiers should be stripped before model training to evaluate pure linguistic and stylistic differences.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